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64931E-D51E-4F0C-8981-2639C0E4F3BD}" v="4" dt="2026-09-05T15:52:19.0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7068D-FF12-4C93-8FF4-403FF3CB7556}" type="datetimeFigureOut">
              <a:t>05-09-2026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D4DE9B-ACEE-43A9-9112-D6235F01FE5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053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5029200" cy="5029200"/>
          </a:xfrm>
          <a:prstGeom prst="ellipse">
            <a:avLst/>
          </a:prstGeom>
          <a:solidFill>
            <a:srgbClr val="26317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82880"/>
            <a:ext cx="3200400" cy="3200400"/>
          </a:xfrm>
          <a:prstGeom prst="ellipse">
            <a:avLst/>
          </a:prstGeom>
          <a:solidFill>
            <a:srgbClr val="2C3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1488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RAG-POWERED SEARCH ENGINE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9718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over Research Papers with Retrieval-Augmented Generation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703320"/>
            <a:ext cx="1280160" cy="36576"/>
          </a:xfrm>
          <a:prstGeom prst="rect">
            <a:avLst/>
          </a:prstGeom>
          <a:solidFill>
            <a:srgbClr val="F7B80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Capstone Project — GenAI Leadership Certification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793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EICT IIT Guwahati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Sneham Vaidya  |  GCP Data Engineer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6309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run locally on Apple M1 (8GB) · Gemini API · FastAPI · FAISS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spend significant time manually scanning paper abstracts to answer a single research question. Keyword search fails when the answer is phrased differently from the query, and it doesn't scale past a handful of papers.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research paper abstracts live from a public API (arXiv)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them for fast semantic (meaning-based) search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the most relevant chunks for a natural-language question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a grounded, cited answer with an LLM (Gemini)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720840" y="1234440"/>
            <a:ext cx="4937760" cy="5029200"/>
          </a:xfrm>
          <a:prstGeom prst="roundRect">
            <a:avLst>
              <a:gd name="adj" fmla="val 2222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086600" y="15087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Option 2: RAG Search Engine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86600" y="2057400"/>
            <a:ext cx="4297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Data-pipeline heavy — ingestion, chunking, embeddings, vector storage mirror real data engineering work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GCP tie-in: Vertex AI Embeddings + Vector Search + Gemini map 1:1 onto this architecture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is the most in-demand GenAI skill employers ask data engineers to have shipped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architectural depth: chunking strategy, retrieval evaluation, latency/cost tradeoffs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Search Engine — Capstone Project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9019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API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042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ingest.py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20116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7B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496312" y="173736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96312" y="19019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496312" y="23042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rag/chunking.py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187952" y="20116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7B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443984" y="173736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43984" y="19019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443984" y="23042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 · M1 GPU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135624" y="20116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7B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391656" y="173736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91656" y="19019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91656" y="23042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083296" y="20116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7B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339328" y="173736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39328" y="19019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339328" y="23042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0030968" y="20116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7B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0287000" y="173736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287000" y="19019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287000" y="23042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3063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public arXiv abstracts → overlapping text chunks → local sentence-transformer embeddings (accelerated on the M1's Metal GPU) → FAISS vector index → top-k retrieval → Gemini-generated, source-cited answer → served over a FastAPI JSON API.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06908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" y="4251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Index-build flow (offline, one-time per topic)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47091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ingest.py → data/corpus.jsonl → RAGPipeline.build_index_from_corpus() → data/index/ (FAISS + metadata)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406908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92240" y="4251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flow (online, per request)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492240" y="47091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/query → embed question → FAISS top-k search → build context → Gemini generateContent (20s timeout, extractive fallback) → JSON answer + sources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Search Engine — Capstone Project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— Local → GCP Production Path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local component is written so it swaps 1:1 for a managed GCP service — the interfaces (.encode(), .add()/.search(), generate_answer()) don't change, only the backend does.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206237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Project (local, free)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GCP Production Equivalent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ingest.py — Python script hitting arXiv 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Function / Cloud Run Job → GCS or BigQuery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sentence-transformers (MiniLM-L6-v2) on M1 GPU (MPS)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Vertex AI text-embedding-004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store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FAISS flat index (cosine similarity)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Vertex AI Vector Search (managed ANN)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API (gemini-flash-latest, API key)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via Vertex AI (service-account auth)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uvicorn (local FastAPI server)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Run (containerized, autoscaling)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data/corpus.jsonl (local file)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BigQuery table / GCS bucket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Search Engine — Capstone Project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on Apple M1, 8GB RAM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57276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72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54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 Acceleration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38528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auto-detect and run on Apple's MPS (Metal) backend instead of CPU. Confirmed in logs: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"Loading embedding model ... on device='mps'"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157276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572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1554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Memory-Safe Batching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1938528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batch size capped at 16 so an 8GB unified-memory machine doesn't swap or OOM while indexing.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81304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13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794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CPU-only FAISS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178808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faiss-cpu is intentional — no meaningful GPU-FAISS path on Apple Silicon, and it stays out of MPS's way.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361188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6520" y="381304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3813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3794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3.12 pin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4178808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venv --python 3.12 — faiss-cpu has no cp313 wheels yet, so the venv is pinned below the Mac's default 3.13.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Search Engine — Capstone Project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Corpus &amp; Retrieval Quality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ingested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(arXiv, live)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1188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1874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indexed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(384-dim vectors)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188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mps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1874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device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(M1 GPU)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92240" y="1188720"/>
            <a:ext cx="0" cy="1234440"/>
          </a:xfrm>
          <a:prstGeom prst="line">
            <a:avLst/>
          </a:prstGeom>
          <a:noFill/>
          <a:ln w="19050">
            <a:solidFill>
              <a:srgbClr val="DDDF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0" y="11887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query: "How do you choose chunk size for retrieval augmented generation?"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34640"/>
          <a:ext cx="11064240" cy="26060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84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Title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Evaluating Chunking Strategies for RAG on Academic Texts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Graph-Guided Retrieval Augmented Generation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HeteRAG: Heterogeneous RAG with Decoupled Knowledge Representations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Corrective Retrieval Augmented Generation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Creating a Taxonomy for Retrieval Augmented Generation Applications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retrieved chunks were genuinely on-topic RAG papers — none of the off-topic results seen before the arXiv query fix (see Challenges &amp; Fixes).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Search Engine — Capstone Project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Gemini-Generated Answer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5029200"/>
          </a:xfrm>
          <a:prstGeom prst="roundRect">
            <a:avLst>
              <a:gd name="adj" fmla="val 2182"/>
            </a:avLst>
          </a:prstGeom>
          <a:solidFill>
            <a:srgbClr val="1B1B2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146304" cy="146304"/>
          </a:xfrm>
          <a:prstGeom prst="ellipse">
            <a:avLst/>
          </a:prstGeom>
          <a:solidFill>
            <a:srgbClr val="E8635A"/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" y="1371600"/>
            <a:ext cx="146304" cy="146304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6" name="Shape 4"/>
          <p:cNvSpPr/>
          <p:nvPr/>
        </p:nvSpPr>
        <p:spPr>
          <a:xfrm>
            <a:off x="1335024" y="1371600"/>
            <a:ext cx="146304" cy="146304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645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E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/query  { "question": "What are common chunking strategies for RAG systems, and what tradeoffs do they involve?" }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4884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provided research paper abstracts, the following chunking strategies and tradeoffs are discussed: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Fixed-size &amp; recursive chunking — simple baseline strategies.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Cluster-based semantic chunking — did NOT outperform simpler strategies in the tested setup; performance varied heavily by document formatting.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Semantic-based isolated chunk retrieval — retrieves relevant chunks but ignores relationships between them.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KG-guided chunk expansion — uses knowledge graphs to organize chunks by fact-level relationships, improving diversity &amp; coherence of results.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4617720"/>
            <a:ext cx="10332720" cy="0"/>
          </a:xfrm>
          <a:prstGeom prst="line">
            <a:avLst/>
          </a:prstGeom>
          <a:noFill/>
          <a:ln w="12700">
            <a:solidFill>
              <a:srgbClr val="3A3A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7548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B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CITED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02920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FAIR-RAG: Faithful Adaptive Iterative Refinement for RAG (0.399)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the RAG Stack: Architecture &amp; Trust Frameworks (0.370)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Chunking Strategies for RAG on Academic Texts (0.333)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Graph-Guided Retrieval Augmented Generation (0.329)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Search Engine — Capstone Project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Evaluation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7315200" cy="310896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components of a RAG pipeline?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the RAG Stack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is retrieval evaluated in QA systems?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7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Evaluating Chunking Strategies for RAG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 failure modes of RAG?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7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Creating a Taxonomy for RAG Applications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does vector search scale to large collections?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7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Beyond Benchmarks: Embedding Model Similarity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663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4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257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coverage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(top match ≥ 0.35 threshold)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4663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52.2 ms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5257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retrieval latency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question (M1 GPU)</a:t>
            </a:r>
            <a:endParaRPr lang="en-US" sz="1050" dirty="0"/>
          </a:p>
        </p:txBody>
      </p:sp>
      <p:pic>
        <p:nvPicPr>
          <p:cNvPr id="8" name="Image 0" descr="retrieval_lat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280160"/>
            <a:ext cx="3520440" cy="2350008"/>
          </a:xfrm>
          <a:prstGeom prst="rect">
            <a:avLst/>
          </a:prstGeom>
        </p:spPr>
      </p:pic>
      <p:sp>
        <p:nvSpPr>
          <p:cNvPr id="3" name="Text 5"/>
          <p:cNvSpPr txBox="1"/>
          <p:nvPr/>
        </p:nvSpPr>
        <p:spPr>
          <a:xfrm>
            <a:off x="8092440" y="36576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latency per test question (from project.ipynb run)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Search Engine — Capstone Project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— FastAPI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FastAPI over Streamlit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async API, not a notebook-with-buttons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how GCP Cloud Run / Cloud Functions gen2 are structured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Swagger docs at /docs for easy testing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request/response models via Pydantic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Endpoints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9080"/>
          <a:ext cx="5394960" cy="173736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/health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liveness + config check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/ingest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 fresh papers from arXiv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/build-index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(re)build the FAISS index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/query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a question, get a cited answer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309360" y="1234440"/>
            <a:ext cx="5303520" cy="4572000"/>
          </a:xfrm>
          <a:prstGeom prst="roundRect">
            <a:avLst>
              <a:gd name="adj" fmla="val 2400"/>
            </a:avLst>
          </a:prstGeom>
          <a:solidFill>
            <a:srgbClr val="0F1117"/>
          </a:solidFill>
          <a:ln/>
        </p:spPr>
      </p:sp>
      <p:sp>
        <p:nvSpPr>
          <p:cNvPr id="8" name="Shape 5"/>
          <p:cNvSpPr/>
          <p:nvPr/>
        </p:nvSpPr>
        <p:spPr>
          <a:xfrm>
            <a:off x="6583680" y="1417320"/>
            <a:ext cx="128016" cy="128016"/>
          </a:xfrm>
          <a:prstGeom prst="ellipse">
            <a:avLst/>
          </a:prstGeom>
          <a:solidFill>
            <a:srgbClr val="E8635A"/>
          </a:solidFill>
          <a:ln/>
        </p:spPr>
      </p:sp>
      <p:sp>
        <p:nvSpPr>
          <p:cNvPr id="9" name="Shape 6"/>
          <p:cNvSpPr/>
          <p:nvPr/>
        </p:nvSpPr>
        <p:spPr>
          <a:xfrm>
            <a:off x="6821424" y="1417320"/>
            <a:ext cx="128016" cy="128016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6" name="Shape 7"/>
          <p:cNvSpPr/>
          <p:nvPr/>
        </p:nvSpPr>
        <p:spPr>
          <a:xfrm>
            <a:off x="7059168" y="1417320"/>
            <a:ext cx="128016" cy="128016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8368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RAG-Powered Search Engine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057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about RAG research papers.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583680" y="2514600"/>
            <a:ext cx="4754880" cy="457200"/>
          </a:xfrm>
          <a:prstGeom prst="roundRect">
            <a:avLst>
              <a:gd name="adj" fmla="val 16000"/>
            </a:avLst>
          </a:prstGeom>
          <a:solidFill>
            <a:srgbClr val="1A1C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20840" y="26334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common chunking strategies for RAG?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583680" y="3108960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4F8CF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583680" y="31089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583680" y="3657600"/>
            <a:ext cx="4754880" cy="1965960"/>
          </a:xfrm>
          <a:prstGeom prst="roundRect">
            <a:avLst>
              <a:gd name="adj" fmla="val 3721"/>
            </a:avLst>
          </a:prstGeom>
          <a:solidFill>
            <a:srgbClr val="1A1C2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720840" y="379476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&amp; recursive chunking are simple baselines. Cluster-based semantic chunking did not outperform them here...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Sources: 5 papers cited, top score 0.399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Search Engine — Capstone Project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Encountered &amp; Fixes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4937758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53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Applied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3.13 default on macOS has no faiss-cpu wheel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Pinned venv to Python 3.12 via uv venv --python 3.12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 query OR-matched individual words, returning off-topic papers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Phrase-quoted the query + switched sort to relevance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 tightened rate limits in 2026 (429 errors)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request pacing + automatic retry/backoff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.env values weren't reaching the FastAPI process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load_dotenv() at app startup + /health key-check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gemini-1.5-flash model was retired (404 error)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Switched to gemini-flash-latest (auto-updating alias) + GEMINI_MODEL override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stalled Gemini call could hang a request indefinitely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a hard 20s timeout with automatic extractive fallback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Search Engine — Capstone Project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481328"/>
            <a:ext cx="365760" cy="365760"/>
          </a:xfrm>
          <a:prstGeom prst="ellipse">
            <a:avLst/>
          </a:prstGeom>
          <a:solidFill>
            <a:srgbClr val="F7B80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to GCP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0428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FAISS → Vertex AI Vector Search, embeddings → Vertex text-embedding-004, for a fully managed production deployment.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28016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4F6FC"/>
          </a:solidFill>
          <a:ln/>
        </p:spPr>
      </p:sp>
      <p:sp>
        <p:nvSpPr>
          <p:cNvPr id="9" name="Shape 7"/>
          <p:cNvSpPr/>
          <p:nvPr/>
        </p:nvSpPr>
        <p:spPr>
          <a:xfrm>
            <a:off x="4526280" y="1481328"/>
            <a:ext cx="365760" cy="365760"/>
          </a:xfrm>
          <a:prstGeom prst="ellipse">
            <a:avLst/>
          </a:prstGeom>
          <a:solidFill>
            <a:srgbClr val="F7B80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628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19385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Full-text ingestion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30428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full paper PDFs via GCS + a PDF-parsing Cloud Function, not just abstracts.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28016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4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8275320" y="1481328"/>
            <a:ext cx="365760" cy="365760"/>
          </a:xfrm>
          <a:prstGeom prst="ellipse">
            <a:avLst/>
          </a:prstGeom>
          <a:solidFill>
            <a:srgbClr val="F7B80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7532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19385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search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30428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BM25 keyword search alongside dense vectors to catch exact-term queries (model names, acronyms).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3813048"/>
            <a:ext cx="365760" cy="365760"/>
          </a:xfrm>
          <a:prstGeom prst="ellipse">
            <a:avLst/>
          </a:prstGeom>
          <a:solidFill>
            <a:srgbClr val="F7B80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2702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loop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63600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thumbs-up/down per answer to BigQuery to measure real answer quality over time.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97680" y="361188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4F6FC"/>
          </a:solidFill>
          <a:ln/>
        </p:spPr>
      </p:sp>
      <p:sp>
        <p:nvSpPr>
          <p:cNvPr id="24" name="Shape 22"/>
          <p:cNvSpPr/>
          <p:nvPr/>
        </p:nvSpPr>
        <p:spPr>
          <a:xfrm>
            <a:off x="4526280" y="3813048"/>
            <a:ext cx="365760" cy="365760"/>
          </a:xfrm>
          <a:prstGeom prst="ellipse">
            <a:avLst/>
          </a:prstGeom>
          <a:solidFill>
            <a:srgbClr val="F7B80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26280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26280" y="42702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Run deployment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63600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 app.py and deploy to Cloud Run for a managed, autoscaling API endpoint.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46720" y="361188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4F6FC"/>
          </a:solidFill>
          <a:ln/>
        </p:spPr>
      </p:sp>
      <p:sp>
        <p:nvSpPr>
          <p:cNvPr id="29" name="Shape 27"/>
          <p:cNvSpPr/>
          <p:nvPr/>
        </p:nvSpPr>
        <p:spPr>
          <a:xfrm>
            <a:off x="8275320" y="3813048"/>
            <a:ext cx="365760" cy="365760"/>
          </a:xfrm>
          <a:prstGeom prst="ellipse">
            <a:avLst/>
          </a:prstGeom>
          <a:solidFill>
            <a:srgbClr val="F7B80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75320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42702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 evaluation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63600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Systematically compare fixed-size vs. semantic chunking on this corpus, following the pattern in 'Evaluating Chunking Strategies for RAG'.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Search Engine — Capstone Project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26317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Demonstrated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10058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pipeline design (ingest → transform → index → serve)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integration: embeddings, vector search, LLM-grounded generation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GCP-aligned architecture with a documented production swap-in path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API design with FastAPI, timeouts, and graceful fallbacks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GPU optimization (Apple MPS) under real hardware constraints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live third-party API changes (model deprecations, rate limits)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5029200"/>
            <a:ext cx="1280160" cy="36576"/>
          </a:xfrm>
          <a:prstGeom prst="rect">
            <a:avLst/>
          </a:prstGeom>
          <a:solidFill>
            <a:srgbClr val="F7B80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595019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5</cp:revision>
  <dcterms:created xsi:type="dcterms:W3CDTF">2026-09-05T15:22:41Z</dcterms:created>
  <dcterms:modified xsi:type="dcterms:W3CDTF">2026-09-05T15:52:37Z</dcterms:modified>
</cp:coreProperties>
</file>